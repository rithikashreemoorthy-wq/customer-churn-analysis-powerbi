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78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%</c:v>
                </c:pt>
              </c:strCache>
            </c:strRef>
          </c:tx>
          <c:spPr>
            <a:solidFill>
              <a:srgbClr val="F2994A"/>
            </a:solidFill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1F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Month-to-Month</c:v>
                </c:pt>
                <c:pt idx="1">
                  <c:v>One Year</c:v>
                </c:pt>
                <c:pt idx="2">
                  <c:v>Two Year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</c:v>
                </c:pt>
                <c:pt idx="1">
                  <c:v>0.26</c:v>
                </c:pt>
                <c:pt idx="2">
                  <c:v>0.22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5F1-45F7-89A0-C3F20A9B440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F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%</c:v>
                </c:pt>
              </c:strCache>
            </c:strRef>
          </c:tx>
          <c:spPr>
            <a:ln w="38100" cap="flat">
              <a:solidFill>
                <a:srgbClr val="1E2761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0-12 mo</c:v>
                </c:pt>
                <c:pt idx="1">
                  <c:v>13-24 mo</c:v>
                </c:pt>
                <c:pt idx="2">
                  <c:v>25-48 mo</c:v>
                </c:pt>
                <c:pt idx="3">
                  <c:v>49-72 mo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</c:v>
                </c:pt>
                <c:pt idx="1">
                  <c:v>0.4</c:v>
                </c:pt>
                <c:pt idx="2">
                  <c:v>0.41</c:v>
                </c:pt>
                <c:pt idx="3">
                  <c:v>0.44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8EC-48A1-B293-2A9B0A4593E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4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F0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4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%</c:v>
                </c:pt>
              </c:strCache>
            </c:strRef>
          </c:tx>
          <c:spPr>
            <a:solidFill>
              <a:srgbClr val="F2994A"/>
            </a:solidFill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B1F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Active</c:v>
                </c:pt>
                <c:pt idx="1">
                  <c:v>At Risk</c:v>
                </c:pt>
                <c:pt idx="2">
                  <c:v>Dormant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0.24</c:v>
                </c:pt>
                <c:pt idx="1">
                  <c:v>0.51</c:v>
                </c:pt>
                <c:pt idx="2">
                  <c:v>0.54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FB9-4C92-9E5E-0554A46EE2C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1F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9502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914400"/>
            <a:ext cx="3657600" cy="3657600"/>
          </a:xfrm>
          <a:prstGeom prst="ellipse">
            <a:avLst/>
          </a:prstGeom>
          <a:solidFill>
            <a:srgbClr val="161C4D"/>
          </a:solidFill>
          <a:ln/>
        </p:spPr>
      </p:sp>
      <p:sp>
        <p:nvSpPr>
          <p:cNvPr id="3" name="Shape 1"/>
          <p:cNvSpPr/>
          <p:nvPr/>
        </p:nvSpPr>
        <p:spPr>
          <a:xfrm>
            <a:off x="11247120" y="4389120"/>
            <a:ext cx="2377440" cy="2377440"/>
          </a:xfrm>
          <a:prstGeom prst="ellipse">
            <a:avLst/>
          </a:prstGeom>
          <a:solidFill>
            <a:srgbClr val="161C4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37744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CHURN ANALYSIS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004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3840480"/>
            <a:ext cx="548640" cy="54864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41148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churn drivers, behavioral risk signals, and revenue impact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 1,600-customer subscription dataset.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 •  Power BI  •  DAX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a subscription business understand why customers leave — and act on it.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87452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our overall churn rate, and how does it change by tenure?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9718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92608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contract types, plans, and payment methods churn the most?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0233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97764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behavioral signals — usage, login recency, support tickets — predict churn?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50749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502920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revenue is at risk, and who are our highest-value losses?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Analysis  |  Power BI Project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Dataset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21208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5400000" algn="bl" rotWithShape="0">
              <a:srgbClr val="1E2761">
                <a:alpha val="1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914400" y="1645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Used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2286000"/>
            <a:ext cx="73152" cy="822960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43000" y="22860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Excel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60604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cleaning, calculated columns, formula-based feature engineering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914400" y="3474720"/>
            <a:ext cx="73152" cy="822960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43000" y="34747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379476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 (DAX), visualization, interactive dashboard design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35040" y="1371600"/>
            <a:ext cx="5577840" cy="4754880"/>
          </a:xfrm>
          <a:prstGeom prst="roundRect">
            <a:avLst>
              <a:gd name="adj" fmla="val 2308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0" y="16459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Snapshot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22860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~1,600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2834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records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22860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17+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8092440" y="2834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 per customer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9784080" y="22860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43.5%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9784080" y="2834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churn rate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3566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Fields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0" y="393192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Demographics: </a:t>
            </a: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Gender, SeniorCitizen
</a:t>
            </a: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Account: </a:t>
            </a: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ContractType, SubscriptionPlan, PaymentMethod, TenureMonths
</a:t>
            </a: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Usage: </a:t>
            </a: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UsageHoursPerMonth, LastLoginDaysAgo, SupportTicketsRaised
</a:t>
            </a: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Billing: </a:t>
            </a: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MonthlyCharges, TotalCharges
</a:t>
            </a: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</a:t>
            </a: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Churn, ChurnReason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Analysis  |  Power BI Project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&amp; Feature Engineering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calculated columns built in Excel to sharpen the analysis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659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93852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TenureGroup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51460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Bucketed tenure: 0-12, 13-24, 25-48, 49-72 months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43400" y="1737360"/>
            <a:ext cx="35661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19659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166360" y="193852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RecencyFlag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51460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/ At Risk / Dormant, from LastLoginDaysAgo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38160" y="1737360"/>
            <a:ext cx="35661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66760" y="19659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6676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961120" y="193852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SeniorCitizenFlag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251460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Yes/No version of the 0/1 flag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703320"/>
            <a:ext cx="35661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9319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390448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AvgMonthlyUsageCost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448056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MonthlyCharges ÷ UsageHoursPerMonth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43400" y="3703320"/>
            <a:ext cx="35661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0" y="39319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7200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166360" y="390448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EstimatedCLV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0" y="448056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TenureMonths × MonthlyCharges (lifetime value estimate)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138160" y="3703320"/>
            <a:ext cx="35661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66760" y="39319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36676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8961120" y="390448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TotalChargesGap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8366760" y="448056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Sanity check: calculated vs. recorded TotalCharges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Analysis  |  Power BI Project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Structure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focused report pages, one narrative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11880" cy="4206240"/>
          </a:xfrm>
          <a:prstGeom prst="roundRect">
            <a:avLst>
              <a:gd name="adj" fmla="val 3038"/>
            </a:avLst>
          </a:prstGeom>
          <a:solidFill>
            <a:srgbClr val="161C4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1031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260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Overview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65760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Top-line KPIs: total customers, churn rate, revenue at risk, avg tenure. Churn split, churn by contract type &amp; tenure group. Fully filterable via slicers.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1828800"/>
            <a:ext cx="3611880" cy="4206240"/>
          </a:xfrm>
          <a:prstGeom prst="roundRect">
            <a:avLst>
              <a:gd name="adj" fmla="val 3038"/>
            </a:avLst>
          </a:prstGeom>
          <a:solidFill>
            <a:srgbClr val="161C4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63440" y="21031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29260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Behavior &amp; Risk Signals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365760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vs. login recency scatter, support ticket comparison, churn by recency flag &amp; payment method, churn reason breakdown, billing method impact.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0" y="1828800"/>
            <a:ext cx="3611880" cy="4206240"/>
          </a:xfrm>
          <a:prstGeom prst="roundRect">
            <a:avLst>
              <a:gd name="adj" fmla="val 3038"/>
            </a:avLst>
          </a:prstGeom>
          <a:solidFill>
            <a:srgbClr val="161C4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503920" y="21031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8503920" y="29260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Impact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503920" y="365760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at risk by contract type &amp; plan (treemap), avg charges by recency flag, and a ranked table of the highest-value churned customers.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Analysis  |  Power BI Project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Insight: Contract Length Drives Churn</a:t>
            </a:r>
            <a:endParaRPr lang="en-US" sz="28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371600"/>
          <a:ext cx="658368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7406640" y="1371600"/>
            <a:ext cx="4206240" cy="4206240"/>
          </a:xfrm>
          <a:prstGeom prst="roundRect">
            <a:avLst>
              <a:gd name="adj" fmla="val 2609"/>
            </a:avLst>
          </a:prstGeom>
          <a:solidFill>
            <a:srgbClr val="1E276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680960" y="16916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</a:t>
            </a:r>
            <a:endParaRPr lang="en-US" sz="5200" dirty="0"/>
          </a:p>
        </p:txBody>
      </p:sp>
      <p:sp>
        <p:nvSpPr>
          <p:cNvPr id="6" name="Text 3"/>
          <p:cNvSpPr txBox="1"/>
          <p:nvPr/>
        </p:nvSpPr>
        <p:spPr>
          <a:xfrm>
            <a:off x="7680960" y="25146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Month-to-Month customers churn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680960" y="3291840"/>
            <a:ext cx="3657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length is the single strongest churn predictor in this dataset. Month-to-Month customers churn nearly 3x more often than annual contract holders — locking customers into longer commitments (or incentivizing upgrades) is the highest-leverage retention lever available.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Analysis  |  Power BI Project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Insight: Early Tenure &amp; Inactivity Signal Risk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% by Tenure Group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91640"/>
          <a:ext cx="530352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06908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peaks in the first year, then eases as customers settle in — onboarding and early engagement matter most.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6309360" y="12801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% by Login Recency</a:t>
            </a:r>
            <a:endParaRPr lang="en-US" sz="1400" dirty="0"/>
          </a:p>
        </p:txBody>
      </p:sp>
      <p:graphicFrame>
        <p:nvGraphicFramePr>
          <p:cNvPr id="7" name="Chart 1"/>
          <p:cNvGraphicFramePr/>
          <p:nvPr/>
        </p:nvGraphicFramePr>
        <p:xfrm>
          <a:off x="6309360" y="1691640"/>
          <a:ext cx="530352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6309360" y="406908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Dormant and At-Risk customers churn 2x more than Active ones — login recency is a strong, actionable early-warning signal.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Analysis  |  Power BI Project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DAX Measures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calculations powering every KPI and visual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161C4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9202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%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92024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DIVIDE([Churned Customers], [Total Customers])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97180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161C4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30632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at Risk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306324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CALCULATE(SUM(EstimatedCLV), Churn = "Yes")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11480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161C4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42062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Support Tickets (Churned)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420624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CALCULATE(AVERAGE(SupportTicketsRaised), Churn = "Yes")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525780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161C4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53492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Support Tickets (Retained)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534924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CALCULATE(AVERAGE(SupportTicketsRaised), Churn = "No")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Analysis  |  Power BI Project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Improvements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project could go next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611880" cy="38404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94560"/>
            <a:ext cx="548640" cy="54864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9260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Top-N Filtering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52044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8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strict Top-N filter to cap the churned-customer CLV table at exactly the top 20 accounts.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9120" y="1920240"/>
            <a:ext cx="3611880" cy="38404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2194560"/>
            <a:ext cx="548640" cy="54864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344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29260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Modeling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52044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8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logistic regression churn-prediction model using the behavioral features as a follow-up analysis.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0" y="1920240"/>
            <a:ext cx="3611880" cy="38404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03920" y="2194560"/>
            <a:ext cx="548640" cy="54864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0392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503920" y="29260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What-If Simulation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503920" y="352044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8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Power BI What-If parameter to simulate how retention campaigns would reduce revenue at risk.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Analysis  |  Power BI Project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161C4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4688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46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project — dataset, Power BI file, and documentation — available on GitHub.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Analysis  |  Power BI Project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720</Words>
  <Application>Microsoft Office PowerPoint</Application>
  <PresentationFormat>Widescreen</PresentationFormat>
  <Paragraphs>120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rithika shree</cp:lastModifiedBy>
  <cp:revision>3</cp:revision>
  <dcterms:created xsi:type="dcterms:W3CDTF">2026-09-30T07:54:49Z</dcterms:created>
  <dcterms:modified xsi:type="dcterms:W3CDTF">2026-10-01T08:22:32Z</dcterms:modified>
</cp:coreProperties>
</file>